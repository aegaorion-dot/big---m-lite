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 Youssef, a synthetic Moroccan expat. He speaks Darija, receives employment pay in pounds, manages household spending, owns a mixed-use villa, runs a cafe and invests in a gym. BiG-M Lite keeps those economic roles separate. The final demonstration consistently uses October twenty twenty-five. These are actual captured product screens with synthetic records, not real customer data.</a:t>
            </a:r>
          </a:p>
          <a:p/>
          <a:p>
            <a:r>
              <a:t>Synthetic 2025 persona. Actual product captures from the final browser journey.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Muse Spark interprets conversations and documents and proposes structured candidates. BiG-M validates those candidates. A person reviews consequential facts, transactions and legal content. The existing accounting engine posts balanced journals, and one universal tax engine executes approved rules. Official evidence stays attached to the rule. Muse selects grounded facts to explain the result, while deterministic state supplies every amount.</a:t>
            </a:r>
          </a:p>
          <a:p/>
          <a:p>
            <a:r>
              <a:t>One Accounting Engine and one Universal Tax Engine. Muse has no approval authority.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Conversation, documents and external imports converge on the same posting boundary. The journey includes foreign currencies, a shared credit card, household purchases and two installments. A card repayment reduces a liability instead of creating another expense. Salary, cafe turnover, villa costs and gym capital retain their own meaning. Duplicate imports and confirmations cannot create duplicate journals.</a:t>
            </a:r>
          </a:p>
          <a:p/>
          <a:p>
            <a:r>
              <a:t>Original currency and reviewed fixture FX remain visible. Card repayment is liability settlement.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concrete supported result. The synthetic Indonesian company has one hundred fifty million rupiah in monthly gross turnover. The governed half-percent rate produces seven hundred fifty thousand rupiah in tax. Supported deductions against this final gross base are zero. Explicit fixture evidence confirms no withholding or advance tax. The user can inspect facts, the effective period, official quotations, formula and calculation trace.</a:t>
            </a:r>
          </a:p>
          <a:p/>
          <a:p>
            <a:r>
              <a:t>Official sources: PP 55/2022 articles 56-62,74; UU7/2021 article 4(3)(c). Simulated human review.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company result does not settle Youssef's worldwide personal taxes. Salary treatment, residence, treaties and mixed-use villa deductions still require evidence. Villa operating costs remain recorded, including staff, cleaning, management and maintenance, without inventing a rental allocation. The supported company amount remains visible while those other components stay under review. This separation makes uncertainty specific and useful.</a:t>
            </a:r>
          </a:p>
          <a:p/>
          <a:p>
            <a:r>
              <a:t>Company tax is separate from personal worldwide tax. No invented deductions or allocation.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full product journey records one hundred twenty-nine balanced journals and preserves state across a fresh process, replayed imports and language changes. One controlled live Muse request explains the calculated tax in Darija, with no retry and no financial-state change. The separate twenty-request residence pilot remains frozen and unresolved. BiG-M Lite shows the source of each supported number and states what it still cannot determine.</a:t>
            </a:r>
          </a:p>
          <a:p/>
          <a:p>
            <a:r>
              <a:t>See MOROCCAN-EXPAT-E2E.md, deterministic-result.json and tax-live-explanation.json for evidence.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6ED"/>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EEB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13350240" cy="812444"/>
          </a:xfrm>
          <a:prstGeom prst="rect">
            <a:avLst/>
          </a:prstGeom>
          <a:noFill/>
        </p:spPr>
        <p:txBody>
          <a:bodyPr wrap="none" lIns="0" rIns="0" tIns="0" bIns="0">
            <a:spAutoFit/>
          </a:bodyPr>
          <a:lstStyle/>
          <a:p>
            <a:pPr>
              <a:defRPr sz="3672" b="1">
                <a:solidFill>
                  <a:srgbClr val="172D42"/>
                </a:solidFill>
                <a:latin typeface="Arial"/>
              </a:defRPr>
            </a:pPr>
            <a:r>
              <a:t>One person. Five economic roles.</a:t>
            </a:r>
          </a:p>
        </p:txBody>
      </p:sp>
      <p:sp>
        <p:nvSpPr>
          <p:cNvPr id="4" name="TextBox 3"/>
          <p:cNvSpPr txBox="1"/>
          <p:nvPr/>
        </p:nvSpPr>
        <p:spPr>
          <a:xfrm>
            <a:off x="594360" y="1508760"/>
            <a:ext cx="4572000" cy="898855"/>
          </a:xfrm>
          <a:prstGeom prst="rect">
            <a:avLst/>
          </a:prstGeom>
          <a:noFill/>
        </p:spPr>
        <p:txBody>
          <a:bodyPr wrap="none" lIns="0" rIns="0" tIns="0" bIns="0">
            <a:spAutoFit/>
          </a:bodyPr>
          <a:lstStyle/>
          <a:p>
            <a:pPr>
              <a:defRPr sz="4176" b="1">
                <a:solidFill>
                  <a:srgbClr val="1C3850"/>
                </a:solidFill>
                <a:latin typeface="Arial"/>
              </a:defRPr>
            </a:pPr>
            <a:r>
              <a:t>BiG-M Lite</a:t>
            </a:r>
          </a:p>
        </p:txBody>
      </p:sp>
      <p:sp>
        <p:nvSpPr>
          <p:cNvPr id="5" name="TextBox 4"/>
          <p:cNvSpPr txBox="1"/>
          <p:nvPr/>
        </p:nvSpPr>
        <p:spPr>
          <a:xfrm>
            <a:off x="594360" y="2423160"/>
            <a:ext cx="4434840" cy="1812340"/>
          </a:xfrm>
          <a:prstGeom prst="rect">
            <a:avLst/>
          </a:prstGeom>
          <a:noFill/>
        </p:spPr>
        <p:txBody>
          <a:bodyPr wrap="none" lIns="0" rIns="0" tIns="0" bIns="0">
            <a:spAutoFit/>
          </a:bodyPr>
          <a:lstStyle/>
          <a:p>
            <a:pPr>
              <a:defRPr sz="2376" b="0">
                <a:solidFill>
                  <a:srgbClr val="172D42"/>
                </a:solidFill>
                <a:latin typeface="Arial"/>
              </a:defRPr>
            </a:pPr>
            <a:r>
              <a:t>Darija conversation</a:t>
            </a:r>
          </a:p>
          <a:p>
            <a:pPr>
              <a:defRPr sz="2376" b="0">
                <a:solidFill>
                  <a:srgbClr val="172D42"/>
                </a:solidFill>
                <a:latin typeface="Arial"/>
              </a:defRPr>
            </a:pPr>
            <a:r>
              <a:t>GBP employment</a:t>
            </a:r>
          </a:p>
          <a:p>
            <a:pPr>
              <a:defRPr sz="2376" b="0">
                <a:solidFill>
                  <a:srgbClr val="172D42"/>
                </a:solidFill>
                <a:latin typeface="Arial"/>
              </a:defRPr>
            </a:pPr>
            <a:r>
              <a:t>Household and installments</a:t>
            </a:r>
          </a:p>
          <a:p>
            <a:pPr>
              <a:defRPr sz="2376" b="0">
                <a:solidFill>
                  <a:srgbClr val="172D42"/>
                </a:solidFill>
                <a:latin typeface="Arial"/>
              </a:defRPr>
            </a:pPr>
            <a:r>
              <a:t>Villa, cafe and gym</a:t>
            </a:r>
          </a:p>
        </p:txBody>
      </p:sp>
      <p:sp>
        <p:nvSpPr>
          <p:cNvPr id="6" name="TextBox 5"/>
          <p:cNvSpPr txBox="1"/>
          <p:nvPr/>
        </p:nvSpPr>
        <p:spPr>
          <a:xfrm>
            <a:off x="594360" y="5577840"/>
            <a:ext cx="4480560" cy="849477"/>
          </a:xfrm>
          <a:prstGeom prst="rect">
            <a:avLst/>
          </a:prstGeom>
          <a:noFill/>
        </p:spPr>
        <p:txBody>
          <a:bodyPr wrap="none" lIns="0" rIns="0" tIns="0" bIns="0">
            <a:spAutoFit/>
          </a:bodyPr>
          <a:lstStyle/>
          <a:p>
            <a:pPr>
              <a:defRPr sz="1943" b="0">
                <a:solidFill>
                  <a:srgbClr val="172D42"/>
                </a:solidFill>
                <a:latin typeface="Arial"/>
              </a:defRPr>
            </a:pPr>
            <a:r>
              <a:t>October 2025</a:t>
            </a:r>
          </a:p>
          <a:p>
            <a:pPr>
              <a:defRPr sz="1943" b="0">
                <a:solidFill>
                  <a:srgbClr val="172D42"/>
                </a:solidFill>
                <a:latin typeface="Arial"/>
              </a:defRPr>
            </a:pPr>
            <a:r>
              <a:t>Synthetic demonstration</a:t>
            </a:r>
          </a:p>
        </p:txBody>
      </p:sp>
      <p:pic>
        <p:nvPicPr>
          <p:cNvPr id="7" name="Picture 6" descr="dashboard.png"/>
          <p:cNvPicPr>
            <a:picLocks noChangeAspect="1"/>
          </p:cNvPicPr>
          <p:nvPr/>
        </p:nvPicPr>
        <p:blipFill>
          <a:blip r:embed="rId2"/>
          <a:stretch>
            <a:fillRect/>
          </a:stretch>
        </p:blipFill>
        <p:spPr>
          <a:xfrm>
            <a:off x="5486400" y="1645920"/>
            <a:ext cx="8595360" cy="5372100"/>
          </a:xfrm>
          <a:prstGeom prst="rect">
            <a:avLst/>
          </a:prstGeom>
        </p:spPr>
      </p:pic>
      <p:sp>
        <p:nvSpPr>
          <p:cNvPr id="8" name="TextBox 7"/>
          <p:cNvSpPr txBox="1"/>
          <p:nvPr/>
        </p:nvSpPr>
        <p:spPr>
          <a:xfrm>
            <a:off x="594360" y="7726679"/>
            <a:ext cx="13350240" cy="429768"/>
          </a:xfrm>
          <a:prstGeom prst="rect">
            <a:avLst/>
          </a:prstGeom>
          <a:noFill/>
        </p:spPr>
        <p:txBody>
          <a:bodyPr wrap="none" lIns="0" rIns="0" tIns="0" bIns="0">
            <a:spAutoFit/>
          </a:bodyPr>
          <a:lstStyle/>
          <a:p>
            <a:pPr>
              <a:defRPr sz="1439" b="0">
                <a:solidFill>
                  <a:srgbClr val="172D42"/>
                </a:solidFill>
                <a:latin typeface="Arial"/>
              </a:defRPr>
            </a:pPr>
            <a:r>
              <a:t>1/6 BiG-M Lite Synthetic product demonstration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6ED"/>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EEB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13350240" cy="812444"/>
          </a:xfrm>
          <a:prstGeom prst="rect">
            <a:avLst/>
          </a:prstGeom>
          <a:noFill/>
        </p:spPr>
        <p:txBody>
          <a:bodyPr wrap="none" lIns="0" rIns="0" tIns="0" bIns="0">
            <a:spAutoFit/>
          </a:bodyPr>
          <a:lstStyle/>
          <a:p>
            <a:pPr>
              <a:defRPr sz="3672" b="1">
                <a:solidFill>
                  <a:srgbClr val="172D42"/>
                </a:solidFill>
                <a:latin typeface="Arial"/>
              </a:defRPr>
            </a:pPr>
            <a:r>
              <a:t>Muse interprets. Deterministic engines execute.</a:t>
            </a:r>
          </a:p>
        </p:txBody>
      </p:sp>
      <p:sp>
        <p:nvSpPr>
          <p:cNvPr id="4" name="Rectangle 3"/>
          <p:cNvSpPr/>
          <p:nvPr/>
        </p:nvSpPr>
        <p:spPr>
          <a:xfrm>
            <a:off x="594360" y="2148840"/>
            <a:ext cx="4114800" cy="731520"/>
          </a:xfrm>
          <a:prstGeom prst="rect">
            <a:avLst/>
          </a:prstGeom>
          <a:solidFill>
            <a:srgbClr val="1C3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286000"/>
            <a:ext cx="3749039" cy="577900"/>
          </a:xfrm>
          <a:prstGeom prst="rect">
            <a:avLst/>
          </a:prstGeom>
          <a:noFill/>
        </p:spPr>
        <p:txBody>
          <a:bodyPr wrap="none" lIns="0" rIns="0" tIns="0" bIns="0">
            <a:spAutoFit/>
          </a:bodyPr>
          <a:lstStyle/>
          <a:p>
            <a:pPr>
              <a:defRPr sz="2304" b="1">
                <a:solidFill>
                  <a:srgbClr val="FAF6ED"/>
                </a:solidFill>
                <a:latin typeface="Arial"/>
              </a:defRPr>
            </a:pPr>
            <a:r>
              <a:t>Muse Spark</a:t>
            </a:r>
          </a:p>
        </p:txBody>
      </p:sp>
      <p:sp>
        <p:nvSpPr>
          <p:cNvPr id="6" name="TextBox 5"/>
          <p:cNvSpPr txBox="1"/>
          <p:nvPr/>
        </p:nvSpPr>
        <p:spPr>
          <a:xfrm>
            <a:off x="777240" y="3200400"/>
            <a:ext cx="3749039" cy="972921"/>
          </a:xfrm>
          <a:prstGeom prst="rect">
            <a:avLst/>
          </a:prstGeom>
          <a:noFill/>
        </p:spPr>
        <p:txBody>
          <a:bodyPr wrap="none" lIns="0" rIns="0" tIns="0" bIns="0">
            <a:spAutoFit/>
          </a:bodyPr>
          <a:lstStyle/>
          <a:p>
            <a:pPr>
              <a:defRPr sz="2304" b="0">
                <a:solidFill>
                  <a:srgbClr val="172D42"/>
                </a:solidFill>
                <a:latin typeface="Arial"/>
              </a:defRPr>
            </a:pPr>
            <a:r>
              <a:t>Interpret context</a:t>
            </a:r>
          </a:p>
          <a:p>
            <a:pPr>
              <a:defRPr sz="2304" b="0">
                <a:solidFill>
                  <a:srgbClr val="172D42"/>
                </a:solidFill>
                <a:latin typeface="Arial"/>
              </a:defRPr>
            </a:pPr>
            <a:r>
              <a:t>Propose facts</a:t>
            </a:r>
          </a:p>
        </p:txBody>
      </p:sp>
      <p:sp>
        <p:nvSpPr>
          <p:cNvPr id="7" name="Rectangle 6"/>
          <p:cNvSpPr/>
          <p:nvPr/>
        </p:nvSpPr>
        <p:spPr>
          <a:xfrm>
            <a:off x="5257800" y="2148840"/>
            <a:ext cx="4114800" cy="731520"/>
          </a:xfrm>
          <a:prstGeom prst="rect">
            <a:avLst/>
          </a:prstGeom>
          <a:solidFill>
            <a:srgbClr val="1C3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40680" y="2286000"/>
            <a:ext cx="3749039" cy="577900"/>
          </a:xfrm>
          <a:prstGeom prst="rect">
            <a:avLst/>
          </a:prstGeom>
          <a:noFill/>
        </p:spPr>
        <p:txBody>
          <a:bodyPr wrap="none" lIns="0" rIns="0" tIns="0" bIns="0">
            <a:spAutoFit/>
          </a:bodyPr>
          <a:lstStyle/>
          <a:p>
            <a:pPr>
              <a:defRPr sz="2304" b="1">
                <a:solidFill>
                  <a:srgbClr val="FAF6ED"/>
                </a:solidFill>
                <a:latin typeface="Arial"/>
              </a:defRPr>
            </a:pPr>
            <a:r>
              <a:t>Human review</a:t>
            </a:r>
          </a:p>
        </p:txBody>
      </p:sp>
      <p:sp>
        <p:nvSpPr>
          <p:cNvPr id="9" name="TextBox 8"/>
          <p:cNvSpPr txBox="1"/>
          <p:nvPr/>
        </p:nvSpPr>
        <p:spPr>
          <a:xfrm>
            <a:off x="5440680" y="3200400"/>
            <a:ext cx="3749039" cy="972921"/>
          </a:xfrm>
          <a:prstGeom prst="rect">
            <a:avLst/>
          </a:prstGeom>
          <a:noFill/>
        </p:spPr>
        <p:txBody>
          <a:bodyPr wrap="none" lIns="0" rIns="0" tIns="0" bIns="0">
            <a:spAutoFit/>
          </a:bodyPr>
          <a:lstStyle/>
          <a:p>
            <a:pPr>
              <a:defRPr sz="2304" b="0">
                <a:solidFill>
                  <a:srgbClr val="172D42"/>
                </a:solidFill>
                <a:latin typeface="Arial"/>
              </a:defRPr>
            </a:pPr>
            <a:r>
              <a:t>Validate evidence</a:t>
            </a:r>
          </a:p>
          <a:p>
            <a:pPr>
              <a:defRPr sz="2304" b="0">
                <a:solidFill>
                  <a:srgbClr val="172D42"/>
                </a:solidFill>
                <a:latin typeface="Arial"/>
              </a:defRPr>
            </a:pPr>
            <a:r>
              <a:t>Confirm scope</a:t>
            </a:r>
          </a:p>
        </p:txBody>
      </p:sp>
      <p:sp>
        <p:nvSpPr>
          <p:cNvPr id="10" name="Rectangle 9"/>
          <p:cNvSpPr/>
          <p:nvPr/>
        </p:nvSpPr>
        <p:spPr>
          <a:xfrm>
            <a:off x="9921240" y="2148840"/>
            <a:ext cx="4114800" cy="731520"/>
          </a:xfrm>
          <a:prstGeom prst="rect">
            <a:avLst/>
          </a:prstGeom>
          <a:solidFill>
            <a:srgbClr val="1C3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104120" y="2286000"/>
            <a:ext cx="3749039" cy="577900"/>
          </a:xfrm>
          <a:prstGeom prst="rect">
            <a:avLst/>
          </a:prstGeom>
          <a:noFill/>
        </p:spPr>
        <p:txBody>
          <a:bodyPr wrap="none" lIns="0" rIns="0" tIns="0" bIns="0">
            <a:spAutoFit/>
          </a:bodyPr>
          <a:lstStyle/>
          <a:p>
            <a:pPr>
              <a:defRPr sz="2304" b="1">
                <a:solidFill>
                  <a:srgbClr val="FAF6ED"/>
                </a:solidFill>
                <a:latin typeface="Arial"/>
              </a:defRPr>
            </a:pPr>
            <a:r>
              <a:t>Existing engines</a:t>
            </a:r>
          </a:p>
        </p:txBody>
      </p:sp>
      <p:sp>
        <p:nvSpPr>
          <p:cNvPr id="12" name="TextBox 11"/>
          <p:cNvSpPr txBox="1"/>
          <p:nvPr/>
        </p:nvSpPr>
        <p:spPr>
          <a:xfrm>
            <a:off x="10104120" y="3200400"/>
            <a:ext cx="3749039" cy="972921"/>
          </a:xfrm>
          <a:prstGeom prst="rect">
            <a:avLst/>
          </a:prstGeom>
          <a:noFill/>
        </p:spPr>
        <p:txBody>
          <a:bodyPr wrap="none" lIns="0" rIns="0" tIns="0" bIns="0">
            <a:spAutoFit/>
          </a:bodyPr>
          <a:lstStyle/>
          <a:p>
            <a:pPr>
              <a:defRPr sz="2304" b="0">
                <a:solidFill>
                  <a:srgbClr val="172D42"/>
                </a:solidFill>
                <a:latin typeface="Arial"/>
              </a:defRPr>
            </a:pPr>
            <a:r>
              <a:t>Post journals</a:t>
            </a:r>
          </a:p>
          <a:p>
            <a:pPr>
              <a:defRPr sz="2304" b="0">
                <a:solidFill>
                  <a:srgbClr val="172D42"/>
                </a:solidFill>
                <a:latin typeface="Arial"/>
              </a:defRPr>
            </a:pPr>
            <a:r>
              <a:t>Calculate tax</a:t>
            </a:r>
          </a:p>
        </p:txBody>
      </p:sp>
      <p:sp>
        <p:nvSpPr>
          <p:cNvPr id="13" name="TextBox 12"/>
          <p:cNvSpPr txBox="1"/>
          <p:nvPr/>
        </p:nvSpPr>
        <p:spPr>
          <a:xfrm>
            <a:off x="594360" y="5074920"/>
            <a:ext cx="13075920" cy="664311"/>
          </a:xfrm>
          <a:prstGeom prst="rect">
            <a:avLst/>
          </a:prstGeom>
          <a:noFill/>
        </p:spPr>
        <p:txBody>
          <a:bodyPr wrap="none" lIns="0" rIns="0" tIns="0" bIns="0">
            <a:spAutoFit/>
          </a:bodyPr>
          <a:lstStyle/>
          <a:p>
            <a:pPr>
              <a:defRPr sz="2808" b="1">
                <a:solidFill>
                  <a:srgbClr val="172D42"/>
                </a:solidFill>
                <a:latin typeface="Arial"/>
              </a:defRPr>
            </a:pPr>
            <a:r>
              <a:t>CountryPack evidence and approved rules govern deterministic execution.</a:t>
            </a:r>
          </a:p>
        </p:txBody>
      </p:sp>
      <p:sp>
        <p:nvSpPr>
          <p:cNvPr id="14" name="TextBox 13"/>
          <p:cNvSpPr txBox="1"/>
          <p:nvPr/>
        </p:nvSpPr>
        <p:spPr>
          <a:xfrm>
            <a:off x="594360" y="6217920"/>
            <a:ext cx="13075920" cy="565556"/>
          </a:xfrm>
          <a:prstGeom prst="rect">
            <a:avLst/>
          </a:prstGeom>
          <a:noFill/>
        </p:spPr>
        <p:txBody>
          <a:bodyPr wrap="none" lIns="0" rIns="0" tIns="0" bIns="0">
            <a:spAutoFit/>
          </a:bodyPr>
          <a:lstStyle/>
          <a:p>
            <a:pPr>
              <a:defRPr sz="2232" b="0">
                <a:solidFill>
                  <a:srgbClr val="172D42"/>
                </a:solidFill>
                <a:latin typeface="Arial"/>
              </a:defRPr>
            </a:pPr>
            <a:r>
              <a:t>Muse selects grounded explanation facts. Recorded state supplies the numbers.</a:t>
            </a:r>
          </a:p>
        </p:txBody>
      </p:sp>
      <p:sp>
        <p:nvSpPr>
          <p:cNvPr id="15" name="TextBox 14"/>
          <p:cNvSpPr txBox="1"/>
          <p:nvPr/>
        </p:nvSpPr>
        <p:spPr>
          <a:xfrm>
            <a:off x="594360" y="7726679"/>
            <a:ext cx="13350240" cy="429768"/>
          </a:xfrm>
          <a:prstGeom prst="rect">
            <a:avLst/>
          </a:prstGeom>
          <a:noFill/>
        </p:spPr>
        <p:txBody>
          <a:bodyPr wrap="none" lIns="0" rIns="0" tIns="0" bIns="0">
            <a:spAutoFit/>
          </a:bodyPr>
          <a:lstStyle/>
          <a:p>
            <a:pPr>
              <a:defRPr sz="1439" b="0">
                <a:solidFill>
                  <a:srgbClr val="172D42"/>
                </a:solidFill>
                <a:latin typeface="Arial"/>
              </a:defRPr>
            </a:pPr>
            <a:r>
              <a:t>2/6 BiG-M Lite Synthetic product demonstration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6ED"/>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EEB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13350240" cy="812444"/>
          </a:xfrm>
          <a:prstGeom prst="rect">
            <a:avLst/>
          </a:prstGeom>
          <a:noFill/>
        </p:spPr>
        <p:txBody>
          <a:bodyPr wrap="none" lIns="0" rIns="0" tIns="0" bIns="0">
            <a:spAutoFit/>
          </a:bodyPr>
          <a:lstStyle/>
          <a:p>
            <a:pPr>
              <a:defRPr sz="3672" b="1">
                <a:solidFill>
                  <a:srgbClr val="172D42"/>
                </a:solidFill>
                <a:latin typeface="Arial"/>
              </a:defRPr>
            </a:pPr>
            <a:r>
              <a:t>Financial evidence reaches one ledger.</a:t>
            </a:r>
          </a:p>
        </p:txBody>
      </p:sp>
      <p:sp>
        <p:nvSpPr>
          <p:cNvPr id="4" name="TextBox 3"/>
          <p:cNvSpPr txBox="1"/>
          <p:nvPr/>
        </p:nvSpPr>
        <p:spPr>
          <a:xfrm>
            <a:off x="594360" y="1645920"/>
            <a:ext cx="4297680" cy="1627174"/>
          </a:xfrm>
          <a:prstGeom prst="rect">
            <a:avLst/>
          </a:prstGeom>
          <a:noFill/>
        </p:spPr>
        <p:txBody>
          <a:bodyPr wrap="none" lIns="0" rIns="0" tIns="0" bIns="0">
            <a:spAutoFit/>
          </a:bodyPr>
          <a:lstStyle/>
          <a:p>
            <a:pPr>
              <a:defRPr sz="2808" b="1">
                <a:solidFill>
                  <a:srgbClr val="1C3850"/>
                </a:solidFill>
                <a:latin typeface="Arial"/>
              </a:defRPr>
            </a:pPr>
            <a:r>
              <a:t>Documents</a:t>
            </a:r>
          </a:p>
          <a:p>
            <a:pPr>
              <a:defRPr sz="2808" b="1">
                <a:solidFill>
                  <a:srgbClr val="1C3850"/>
                </a:solidFill>
                <a:latin typeface="Arial"/>
              </a:defRPr>
            </a:pPr>
            <a:r>
              <a:t>Conversation</a:t>
            </a:r>
          </a:p>
          <a:p>
            <a:pPr>
              <a:defRPr sz="2808" b="1">
                <a:solidFill>
                  <a:srgbClr val="1C3850"/>
                </a:solidFill>
                <a:latin typeface="Arial"/>
              </a:defRPr>
            </a:pPr>
            <a:r>
              <a:t>External statements</a:t>
            </a:r>
          </a:p>
        </p:txBody>
      </p:sp>
      <p:sp>
        <p:nvSpPr>
          <p:cNvPr id="5" name="TextBox 4"/>
          <p:cNvSpPr txBox="1"/>
          <p:nvPr/>
        </p:nvSpPr>
        <p:spPr>
          <a:xfrm>
            <a:off x="594360" y="3657600"/>
            <a:ext cx="4297680" cy="1442008"/>
          </a:xfrm>
          <a:prstGeom prst="rect">
            <a:avLst/>
          </a:prstGeom>
          <a:noFill/>
        </p:spPr>
        <p:txBody>
          <a:bodyPr wrap="none" lIns="0" rIns="0" tIns="0" bIns="0">
            <a:spAutoFit/>
          </a:bodyPr>
          <a:lstStyle/>
          <a:p>
            <a:pPr>
              <a:defRPr sz="2448" b="0">
                <a:solidFill>
                  <a:srgbClr val="172D42"/>
                </a:solidFill>
                <a:latin typeface="Arial"/>
              </a:defRPr>
            </a:pPr>
            <a:r>
              <a:t>Reviewed candidates</a:t>
            </a:r>
          </a:p>
          <a:p>
            <a:pPr>
              <a:defRPr sz="2448" b="0">
                <a:solidFill>
                  <a:srgbClr val="172D42"/>
                </a:solidFill>
                <a:latin typeface="Arial"/>
              </a:defRPr>
            </a:pPr>
            <a:r>
              <a:t>One posting boundary</a:t>
            </a:r>
          </a:p>
          <a:p>
            <a:pPr>
              <a:defRPr sz="2448" b="0">
                <a:solidFill>
                  <a:srgbClr val="172D42"/>
                </a:solidFill>
                <a:latin typeface="Arial"/>
              </a:defRPr>
            </a:pPr>
            <a:r>
              <a:t>129 balanced journals</a:t>
            </a:r>
          </a:p>
        </p:txBody>
      </p:sp>
      <p:pic>
        <p:nvPicPr>
          <p:cNvPr id="6" name="Picture 5" descr="reports.png"/>
          <p:cNvPicPr>
            <a:picLocks noChangeAspect="1"/>
          </p:cNvPicPr>
          <p:nvPr/>
        </p:nvPicPr>
        <p:blipFill>
          <a:blip r:embed="rId2"/>
          <a:stretch>
            <a:fillRect/>
          </a:stretch>
        </p:blipFill>
        <p:spPr>
          <a:xfrm>
            <a:off x="5486400" y="1645920"/>
            <a:ext cx="8595360" cy="5372100"/>
          </a:xfrm>
          <a:prstGeom prst="rect">
            <a:avLst/>
          </a:prstGeom>
        </p:spPr>
      </p:pic>
      <p:sp>
        <p:nvSpPr>
          <p:cNvPr id="7" name="TextBox 6"/>
          <p:cNvSpPr txBox="1"/>
          <p:nvPr/>
        </p:nvSpPr>
        <p:spPr>
          <a:xfrm>
            <a:off x="594360" y="7726679"/>
            <a:ext cx="13350240" cy="429768"/>
          </a:xfrm>
          <a:prstGeom prst="rect">
            <a:avLst/>
          </a:prstGeom>
          <a:noFill/>
        </p:spPr>
        <p:txBody>
          <a:bodyPr wrap="none" lIns="0" rIns="0" tIns="0" bIns="0">
            <a:spAutoFit/>
          </a:bodyPr>
          <a:lstStyle/>
          <a:p>
            <a:pPr>
              <a:defRPr sz="1439" b="0">
                <a:solidFill>
                  <a:srgbClr val="172D42"/>
                </a:solidFill>
                <a:latin typeface="Arial"/>
              </a:defRPr>
            </a:pPr>
            <a:r>
              <a:t>3/6 BiG-M Lite Synthetic product demonstration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6ED"/>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EEB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13350240" cy="812444"/>
          </a:xfrm>
          <a:prstGeom prst="rect">
            <a:avLst/>
          </a:prstGeom>
          <a:noFill/>
        </p:spPr>
        <p:txBody>
          <a:bodyPr wrap="none" lIns="0" rIns="0" tIns="0" bIns="0">
            <a:spAutoFit/>
          </a:bodyPr>
          <a:lstStyle/>
          <a:p>
            <a:pPr>
              <a:defRPr sz="3672" b="1">
                <a:solidFill>
                  <a:srgbClr val="172D42"/>
                </a:solidFill>
                <a:latin typeface="Arial"/>
              </a:defRPr>
            </a:pPr>
            <a:r>
              <a:t>Rp750,000 with an evidence trail.</a:t>
            </a:r>
          </a:p>
        </p:txBody>
      </p:sp>
      <p:sp>
        <p:nvSpPr>
          <p:cNvPr id="4" name="TextBox 3"/>
          <p:cNvSpPr txBox="1"/>
          <p:nvPr/>
        </p:nvSpPr>
        <p:spPr>
          <a:xfrm>
            <a:off x="594360" y="1691640"/>
            <a:ext cx="4389120" cy="713689"/>
          </a:xfrm>
          <a:prstGeom prst="rect">
            <a:avLst/>
          </a:prstGeom>
          <a:noFill/>
        </p:spPr>
        <p:txBody>
          <a:bodyPr wrap="none" lIns="0" rIns="0" tIns="0" bIns="0">
            <a:spAutoFit/>
          </a:bodyPr>
          <a:lstStyle/>
          <a:p>
            <a:pPr>
              <a:defRPr sz="3095" b="1">
                <a:solidFill>
                  <a:srgbClr val="1C3850"/>
                </a:solidFill>
                <a:latin typeface="Arial"/>
              </a:defRPr>
            </a:pPr>
            <a:r>
              <a:t>IDR 150,000,000</a:t>
            </a:r>
          </a:p>
        </p:txBody>
      </p:sp>
      <p:sp>
        <p:nvSpPr>
          <p:cNvPr id="5" name="TextBox 4"/>
          <p:cNvSpPr txBox="1"/>
          <p:nvPr/>
        </p:nvSpPr>
        <p:spPr>
          <a:xfrm>
            <a:off x="594360" y="2286000"/>
            <a:ext cx="4389120" cy="553212"/>
          </a:xfrm>
          <a:prstGeom prst="rect">
            <a:avLst/>
          </a:prstGeom>
          <a:noFill/>
        </p:spPr>
        <p:txBody>
          <a:bodyPr wrap="none" lIns="0" rIns="0" tIns="0" bIns="0">
            <a:spAutoFit/>
          </a:bodyPr>
          <a:lstStyle/>
          <a:p>
            <a:pPr>
              <a:defRPr sz="2160" b="0">
                <a:solidFill>
                  <a:srgbClr val="172D42"/>
                </a:solidFill>
                <a:latin typeface="Arial"/>
              </a:defRPr>
            </a:pPr>
            <a:r>
              <a:t>Monthly gross base</a:t>
            </a:r>
          </a:p>
        </p:txBody>
      </p:sp>
      <p:sp>
        <p:nvSpPr>
          <p:cNvPr id="6" name="TextBox 5"/>
          <p:cNvSpPr txBox="1"/>
          <p:nvPr/>
        </p:nvSpPr>
        <p:spPr>
          <a:xfrm>
            <a:off x="594360" y="3337560"/>
            <a:ext cx="4389120" cy="997610"/>
          </a:xfrm>
          <a:prstGeom prst="rect">
            <a:avLst/>
          </a:prstGeom>
          <a:noFill/>
        </p:spPr>
        <p:txBody>
          <a:bodyPr wrap="none" lIns="0" rIns="0" tIns="0" bIns="0">
            <a:spAutoFit/>
          </a:bodyPr>
          <a:lstStyle/>
          <a:p>
            <a:pPr>
              <a:defRPr sz="4752" b="1">
                <a:solidFill>
                  <a:srgbClr val="1C3850"/>
                </a:solidFill>
                <a:latin typeface="Arial"/>
              </a:defRPr>
            </a:pPr>
            <a:r>
              <a:t>0.5%</a:t>
            </a:r>
          </a:p>
        </p:txBody>
      </p:sp>
      <p:sp>
        <p:nvSpPr>
          <p:cNvPr id="7" name="TextBox 6"/>
          <p:cNvSpPr txBox="1"/>
          <p:nvPr/>
        </p:nvSpPr>
        <p:spPr>
          <a:xfrm>
            <a:off x="594360" y="4069080"/>
            <a:ext cx="4389120" cy="565556"/>
          </a:xfrm>
          <a:prstGeom prst="rect">
            <a:avLst/>
          </a:prstGeom>
          <a:noFill/>
        </p:spPr>
        <p:txBody>
          <a:bodyPr wrap="none" lIns="0" rIns="0" tIns="0" bIns="0">
            <a:spAutoFit/>
          </a:bodyPr>
          <a:lstStyle/>
          <a:p>
            <a:pPr>
              <a:defRPr sz="2232" b="0">
                <a:solidFill>
                  <a:srgbClr val="172D42"/>
                </a:solidFill>
                <a:latin typeface="Arial"/>
              </a:defRPr>
            </a:pPr>
            <a:r>
              <a:t>PP 55/2022</a:t>
            </a:r>
          </a:p>
        </p:txBody>
      </p:sp>
      <p:sp>
        <p:nvSpPr>
          <p:cNvPr id="8" name="TextBox 7"/>
          <p:cNvSpPr txBox="1"/>
          <p:nvPr/>
        </p:nvSpPr>
        <p:spPr>
          <a:xfrm>
            <a:off x="594360" y="5120640"/>
            <a:ext cx="4389120" cy="837133"/>
          </a:xfrm>
          <a:prstGeom prst="rect">
            <a:avLst/>
          </a:prstGeom>
          <a:noFill/>
        </p:spPr>
        <p:txBody>
          <a:bodyPr wrap="none" lIns="0" rIns="0" tIns="0" bIns="0">
            <a:spAutoFit/>
          </a:bodyPr>
          <a:lstStyle/>
          <a:p>
            <a:pPr>
              <a:defRPr sz="3815" b="1">
                <a:solidFill>
                  <a:srgbClr val="1C3850"/>
                </a:solidFill>
                <a:latin typeface="Arial"/>
              </a:defRPr>
            </a:pPr>
            <a:r>
              <a:t>IDR 750,000</a:t>
            </a:r>
          </a:p>
        </p:txBody>
      </p:sp>
      <p:sp>
        <p:nvSpPr>
          <p:cNvPr id="9" name="TextBox 8"/>
          <p:cNvSpPr txBox="1"/>
          <p:nvPr/>
        </p:nvSpPr>
        <p:spPr>
          <a:xfrm>
            <a:off x="594360" y="5806440"/>
            <a:ext cx="4389120" cy="898855"/>
          </a:xfrm>
          <a:prstGeom prst="rect">
            <a:avLst/>
          </a:prstGeom>
          <a:noFill/>
        </p:spPr>
        <p:txBody>
          <a:bodyPr wrap="none" lIns="0" rIns="0" tIns="0" bIns="0">
            <a:spAutoFit/>
          </a:bodyPr>
          <a:lstStyle/>
          <a:p>
            <a:pPr>
              <a:defRPr sz="2088" b="0">
                <a:solidFill>
                  <a:srgbClr val="172D42"/>
                </a:solidFill>
                <a:latin typeface="Arial"/>
              </a:defRPr>
            </a:pPr>
            <a:r>
              <a:t>Remaining payable</a:t>
            </a:r>
          </a:p>
          <a:p>
            <a:pPr>
              <a:defRPr sz="2088" b="0">
                <a:solidFill>
                  <a:srgbClr val="172D42"/>
                </a:solidFill>
                <a:latin typeface="Arial"/>
              </a:defRPr>
            </a:pPr>
            <a:r>
              <a:t>Zero withholding / credits</a:t>
            </a:r>
          </a:p>
        </p:txBody>
      </p:sp>
      <p:pic>
        <p:nvPicPr>
          <p:cNvPr id="10" name="Picture 9" descr="tax.png"/>
          <p:cNvPicPr>
            <a:picLocks noChangeAspect="1"/>
          </p:cNvPicPr>
          <p:nvPr/>
        </p:nvPicPr>
        <p:blipFill>
          <a:blip r:embed="rId2"/>
          <a:stretch>
            <a:fillRect/>
          </a:stretch>
        </p:blipFill>
        <p:spPr>
          <a:xfrm>
            <a:off x="5486400" y="1645920"/>
            <a:ext cx="8595360" cy="5372100"/>
          </a:xfrm>
          <a:prstGeom prst="rect">
            <a:avLst/>
          </a:prstGeom>
        </p:spPr>
      </p:pic>
      <p:sp>
        <p:nvSpPr>
          <p:cNvPr id="11" name="TextBox 10"/>
          <p:cNvSpPr txBox="1"/>
          <p:nvPr/>
        </p:nvSpPr>
        <p:spPr>
          <a:xfrm>
            <a:off x="594360" y="7726679"/>
            <a:ext cx="13350240" cy="429768"/>
          </a:xfrm>
          <a:prstGeom prst="rect">
            <a:avLst/>
          </a:prstGeom>
          <a:noFill/>
        </p:spPr>
        <p:txBody>
          <a:bodyPr wrap="none" lIns="0" rIns="0" tIns="0" bIns="0">
            <a:spAutoFit/>
          </a:bodyPr>
          <a:lstStyle/>
          <a:p>
            <a:pPr>
              <a:defRPr sz="1439" b="0">
                <a:solidFill>
                  <a:srgbClr val="172D42"/>
                </a:solidFill>
                <a:latin typeface="Arial"/>
              </a:defRPr>
            </a:pPr>
            <a:r>
              <a:t>4/6 BiG-M Lite Synthetic product demonstration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6ED"/>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EEB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13350240" cy="812444"/>
          </a:xfrm>
          <a:prstGeom prst="rect">
            <a:avLst/>
          </a:prstGeom>
          <a:noFill/>
        </p:spPr>
        <p:txBody>
          <a:bodyPr wrap="none" lIns="0" rIns="0" tIns="0" bIns="0">
            <a:spAutoFit/>
          </a:bodyPr>
          <a:lstStyle/>
          <a:p>
            <a:pPr>
              <a:defRPr sz="3672" b="1">
                <a:solidFill>
                  <a:srgbClr val="172D42"/>
                </a:solidFill>
                <a:latin typeface="Arial"/>
              </a:defRPr>
            </a:pPr>
            <a:r>
              <a:t>Uncertainty stays with its own scope.</a:t>
            </a:r>
          </a:p>
        </p:txBody>
      </p:sp>
      <p:sp>
        <p:nvSpPr>
          <p:cNvPr id="4" name="Rectangle 3"/>
          <p:cNvSpPr/>
          <p:nvPr/>
        </p:nvSpPr>
        <p:spPr>
          <a:xfrm>
            <a:off x="594360" y="1965960"/>
            <a:ext cx="6309360" cy="685800"/>
          </a:xfrm>
          <a:prstGeom prst="rect">
            <a:avLst/>
          </a:prstGeom>
          <a:solidFill>
            <a:srgbClr val="1C3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103120"/>
            <a:ext cx="5943600" cy="565556"/>
          </a:xfrm>
          <a:prstGeom prst="rect">
            <a:avLst/>
          </a:prstGeom>
          <a:noFill/>
        </p:spPr>
        <p:txBody>
          <a:bodyPr wrap="none" lIns="0" rIns="0" tIns="0" bIns="0">
            <a:spAutoFit/>
          </a:bodyPr>
          <a:lstStyle/>
          <a:p>
            <a:pPr>
              <a:defRPr sz="2232" b="1">
                <a:solidFill>
                  <a:srgbClr val="FAF6ED"/>
                </a:solidFill>
                <a:latin typeface="Arial"/>
              </a:defRPr>
            </a:pPr>
            <a:r>
              <a:t>Supported company calculation</a:t>
            </a:r>
          </a:p>
        </p:txBody>
      </p:sp>
      <p:sp>
        <p:nvSpPr>
          <p:cNvPr id="6" name="TextBox 5"/>
          <p:cNvSpPr txBox="1"/>
          <p:nvPr/>
        </p:nvSpPr>
        <p:spPr>
          <a:xfrm>
            <a:off x="777240" y="3017520"/>
            <a:ext cx="5760720" cy="1627174"/>
          </a:xfrm>
          <a:prstGeom prst="rect">
            <a:avLst/>
          </a:prstGeom>
          <a:noFill/>
        </p:spPr>
        <p:txBody>
          <a:bodyPr wrap="none" lIns="0" rIns="0" tIns="0" bIns="0">
            <a:spAutoFit/>
          </a:bodyPr>
          <a:lstStyle/>
          <a:p>
            <a:pPr>
              <a:defRPr sz="2808" b="0">
                <a:solidFill>
                  <a:srgbClr val="172D42"/>
                </a:solidFill>
                <a:latin typeface="Arial"/>
              </a:defRPr>
            </a:pPr>
            <a:r>
              <a:t>October 2025</a:t>
            </a:r>
          </a:p>
          <a:p>
            <a:pPr>
              <a:defRPr sz="2808" b="0">
                <a:solidFill>
                  <a:srgbClr val="172D42"/>
                </a:solidFill>
                <a:latin typeface="Arial"/>
              </a:defRPr>
            </a:pPr>
            <a:r>
              <a:t>Final gross-turnover tax</a:t>
            </a:r>
          </a:p>
          <a:p>
            <a:pPr>
              <a:defRPr sz="2808" b="0">
                <a:solidFill>
                  <a:srgbClr val="172D42"/>
                </a:solidFill>
                <a:latin typeface="Arial"/>
              </a:defRPr>
            </a:pPr>
            <a:r>
              <a:t>IDR 750,000 payable</a:t>
            </a:r>
          </a:p>
        </p:txBody>
      </p:sp>
      <p:sp>
        <p:nvSpPr>
          <p:cNvPr id="7" name="Rectangle 6"/>
          <p:cNvSpPr/>
          <p:nvPr/>
        </p:nvSpPr>
        <p:spPr>
          <a:xfrm>
            <a:off x="7635240" y="1965960"/>
            <a:ext cx="6309360" cy="685800"/>
          </a:xfrm>
          <a:prstGeom prst="rect">
            <a:avLst/>
          </a:prstGeom>
          <a:solidFill>
            <a:srgbClr val="EEB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18120" y="2103120"/>
            <a:ext cx="5943600" cy="565556"/>
          </a:xfrm>
          <a:prstGeom prst="rect">
            <a:avLst/>
          </a:prstGeom>
          <a:noFill/>
        </p:spPr>
        <p:txBody>
          <a:bodyPr wrap="none" lIns="0" rIns="0" tIns="0" bIns="0">
            <a:spAutoFit/>
          </a:bodyPr>
          <a:lstStyle/>
          <a:p>
            <a:pPr>
              <a:defRPr sz="2232" b="1">
                <a:solidFill>
                  <a:srgbClr val="1C3850"/>
                </a:solidFill>
                <a:latin typeface="Arial"/>
              </a:defRPr>
            </a:pPr>
            <a:r>
              <a:t>Review required</a:t>
            </a:r>
          </a:p>
        </p:txBody>
      </p:sp>
      <p:sp>
        <p:nvSpPr>
          <p:cNvPr id="9" name="TextBox 8"/>
          <p:cNvSpPr txBox="1"/>
          <p:nvPr/>
        </p:nvSpPr>
        <p:spPr>
          <a:xfrm>
            <a:off x="7818120" y="3017520"/>
            <a:ext cx="5760720" cy="1479042"/>
          </a:xfrm>
          <a:prstGeom prst="rect">
            <a:avLst/>
          </a:prstGeom>
          <a:noFill/>
        </p:spPr>
        <p:txBody>
          <a:bodyPr wrap="none" lIns="0" rIns="0" tIns="0" bIns="0">
            <a:spAutoFit/>
          </a:bodyPr>
          <a:lstStyle/>
          <a:p>
            <a:pPr>
              <a:defRPr sz="2520" b="0">
                <a:solidFill>
                  <a:srgbClr val="172D42"/>
                </a:solidFill>
                <a:latin typeface="Arial"/>
              </a:defRPr>
            </a:pPr>
            <a:r>
              <a:t>Personal residence and salary</a:t>
            </a:r>
          </a:p>
          <a:p>
            <a:pPr>
              <a:defRPr sz="2520" b="0">
                <a:solidFill>
                  <a:srgbClr val="172D42"/>
                </a:solidFill>
                <a:latin typeface="Arial"/>
              </a:defRPr>
            </a:pPr>
            <a:r>
              <a:t>Mixed-use villa tax treatment</a:t>
            </a:r>
          </a:p>
          <a:p>
            <a:pPr>
              <a:defRPr sz="2520" b="0">
                <a:solidFill>
                  <a:srgbClr val="172D42"/>
                </a:solidFill>
                <a:latin typeface="Arial"/>
              </a:defRPr>
            </a:pPr>
            <a:r>
              <a:t>Treaty relief and credits</a:t>
            </a:r>
          </a:p>
        </p:txBody>
      </p:sp>
      <p:sp>
        <p:nvSpPr>
          <p:cNvPr id="10" name="TextBox 9"/>
          <p:cNvSpPr txBox="1"/>
          <p:nvPr/>
        </p:nvSpPr>
        <p:spPr>
          <a:xfrm>
            <a:off x="777240" y="5943600"/>
            <a:ext cx="13075920" cy="577900"/>
          </a:xfrm>
          <a:prstGeom prst="rect">
            <a:avLst/>
          </a:prstGeom>
          <a:noFill/>
        </p:spPr>
        <p:txBody>
          <a:bodyPr wrap="none" lIns="0" rIns="0" tIns="0" bIns="0">
            <a:spAutoFit/>
          </a:bodyPr>
          <a:lstStyle/>
          <a:p>
            <a:pPr>
              <a:defRPr sz="2304" b="0">
                <a:solidFill>
                  <a:srgbClr val="172D42"/>
                </a:solidFill>
                <a:latin typeface="Arial"/>
              </a:defRPr>
            </a:pPr>
            <a:r>
              <a:t>Villa costs remain recorded. No invented rental allocation or worldwide total.</a:t>
            </a:r>
          </a:p>
        </p:txBody>
      </p:sp>
      <p:sp>
        <p:nvSpPr>
          <p:cNvPr id="11" name="TextBox 10"/>
          <p:cNvSpPr txBox="1"/>
          <p:nvPr/>
        </p:nvSpPr>
        <p:spPr>
          <a:xfrm>
            <a:off x="594360" y="7726679"/>
            <a:ext cx="13350240" cy="429768"/>
          </a:xfrm>
          <a:prstGeom prst="rect">
            <a:avLst/>
          </a:prstGeom>
          <a:noFill/>
        </p:spPr>
        <p:txBody>
          <a:bodyPr wrap="none" lIns="0" rIns="0" tIns="0" bIns="0">
            <a:spAutoFit/>
          </a:bodyPr>
          <a:lstStyle/>
          <a:p>
            <a:pPr>
              <a:defRPr sz="1439" b="0">
                <a:solidFill>
                  <a:srgbClr val="172D42"/>
                </a:solidFill>
                <a:latin typeface="Arial"/>
              </a:defRPr>
            </a:pPr>
            <a:r>
              <a:t>5/6 BiG-M Lite Synthetic product demonstration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6ED"/>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EEBD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502920"/>
            <a:ext cx="13350240" cy="812444"/>
          </a:xfrm>
          <a:prstGeom prst="rect">
            <a:avLst/>
          </a:prstGeom>
          <a:noFill/>
        </p:spPr>
        <p:txBody>
          <a:bodyPr wrap="none" lIns="0" rIns="0" tIns="0" bIns="0">
            <a:spAutoFit/>
          </a:bodyPr>
          <a:lstStyle/>
          <a:p>
            <a:pPr>
              <a:defRPr sz="3672" b="1">
                <a:solidFill>
                  <a:srgbClr val="172D42"/>
                </a:solidFill>
                <a:latin typeface="Arial"/>
              </a:defRPr>
            </a:pPr>
            <a:r>
              <a:t>The result survives restart and replay.</a:t>
            </a:r>
          </a:p>
        </p:txBody>
      </p:sp>
      <p:sp>
        <p:nvSpPr>
          <p:cNvPr id="4" name="TextBox 3"/>
          <p:cNvSpPr txBox="1"/>
          <p:nvPr/>
        </p:nvSpPr>
        <p:spPr>
          <a:xfrm>
            <a:off x="594360" y="1920240"/>
            <a:ext cx="5943600" cy="824788"/>
          </a:xfrm>
          <a:prstGeom prst="rect">
            <a:avLst/>
          </a:prstGeom>
          <a:noFill/>
        </p:spPr>
        <p:txBody>
          <a:bodyPr wrap="none" lIns="0" rIns="0" tIns="0" bIns="0">
            <a:spAutoFit/>
          </a:bodyPr>
          <a:lstStyle/>
          <a:p>
            <a:pPr>
              <a:defRPr sz="3744" b="1">
                <a:solidFill>
                  <a:srgbClr val="1C3850"/>
                </a:solidFill>
                <a:latin typeface="Arial"/>
              </a:defRPr>
            </a:pPr>
            <a:r>
              <a:t>129 balanced journals</a:t>
            </a:r>
          </a:p>
        </p:txBody>
      </p:sp>
      <p:sp>
        <p:nvSpPr>
          <p:cNvPr id="5" name="TextBox 4"/>
          <p:cNvSpPr txBox="1"/>
          <p:nvPr/>
        </p:nvSpPr>
        <p:spPr>
          <a:xfrm>
            <a:off x="594360" y="2788920"/>
            <a:ext cx="5943600" cy="1516075"/>
          </a:xfrm>
          <a:prstGeom prst="rect">
            <a:avLst/>
          </a:prstGeom>
          <a:noFill/>
        </p:spPr>
        <p:txBody>
          <a:bodyPr wrap="none" lIns="0" rIns="0" tIns="0" bIns="0">
            <a:spAutoFit/>
          </a:bodyPr>
          <a:lstStyle/>
          <a:p>
            <a:pPr>
              <a:defRPr sz="2592" b="0">
                <a:solidFill>
                  <a:srgbClr val="172D42"/>
                </a:solidFill>
                <a:latin typeface="Arial"/>
              </a:defRPr>
            </a:pPr>
            <a:r>
              <a:t>Fresh-process restart</a:t>
            </a:r>
          </a:p>
          <a:p>
            <a:pPr>
              <a:defRPr sz="2592" b="0">
                <a:solidFill>
                  <a:srgbClr val="172D42"/>
                </a:solidFill>
                <a:latin typeface="Arial"/>
              </a:defRPr>
            </a:pPr>
            <a:r>
              <a:t>Duplicate replay</a:t>
            </a:r>
          </a:p>
          <a:p>
            <a:pPr>
              <a:defRPr sz="2592" b="0">
                <a:solidFill>
                  <a:srgbClr val="172D42"/>
                </a:solidFill>
                <a:latin typeface="Arial"/>
              </a:defRPr>
            </a:pPr>
            <a:r>
              <a:t>Language invariance</a:t>
            </a:r>
          </a:p>
        </p:txBody>
      </p:sp>
      <p:sp>
        <p:nvSpPr>
          <p:cNvPr id="6" name="TextBox 5"/>
          <p:cNvSpPr txBox="1"/>
          <p:nvPr/>
        </p:nvSpPr>
        <p:spPr>
          <a:xfrm>
            <a:off x="7863840" y="1920240"/>
            <a:ext cx="5943600" cy="824788"/>
          </a:xfrm>
          <a:prstGeom prst="rect">
            <a:avLst/>
          </a:prstGeom>
          <a:noFill/>
        </p:spPr>
        <p:txBody>
          <a:bodyPr wrap="none" lIns="0" rIns="0" tIns="0" bIns="0">
            <a:spAutoFit/>
          </a:bodyPr>
          <a:lstStyle/>
          <a:p>
            <a:pPr>
              <a:defRPr sz="3744" b="1">
                <a:solidFill>
                  <a:srgbClr val="1C3850"/>
                </a:solidFill>
                <a:latin typeface="Arial"/>
              </a:defRPr>
            </a:pPr>
            <a:r>
              <a:t>1 live explanation</a:t>
            </a:r>
          </a:p>
        </p:txBody>
      </p:sp>
      <p:sp>
        <p:nvSpPr>
          <p:cNvPr id="7" name="TextBox 6"/>
          <p:cNvSpPr txBox="1"/>
          <p:nvPr/>
        </p:nvSpPr>
        <p:spPr>
          <a:xfrm>
            <a:off x="7863840" y="2788920"/>
            <a:ext cx="5943600" cy="1516075"/>
          </a:xfrm>
          <a:prstGeom prst="rect">
            <a:avLst/>
          </a:prstGeom>
          <a:noFill/>
        </p:spPr>
        <p:txBody>
          <a:bodyPr wrap="none" lIns="0" rIns="0" tIns="0" bIns="0">
            <a:spAutoFit/>
          </a:bodyPr>
          <a:lstStyle/>
          <a:p>
            <a:pPr>
              <a:defRPr sz="2592" b="0">
                <a:solidFill>
                  <a:srgbClr val="172D42"/>
                </a:solidFill>
                <a:latin typeface="Arial"/>
              </a:defRPr>
            </a:pPr>
            <a:r>
              <a:t>Darija</a:t>
            </a:r>
          </a:p>
          <a:p>
            <a:pPr>
              <a:defRPr sz="2592" b="0">
                <a:solidFill>
                  <a:srgbClr val="172D42"/>
                </a:solidFill>
                <a:latin typeface="Arial"/>
              </a:defRPr>
            </a:pPr>
            <a:r>
              <a:t>Zero retries</a:t>
            </a:r>
          </a:p>
          <a:p>
            <a:pPr>
              <a:defRPr sz="2592" b="0">
                <a:solidFill>
                  <a:srgbClr val="172D42"/>
                </a:solidFill>
                <a:latin typeface="Arial"/>
              </a:defRPr>
            </a:pPr>
            <a:r>
              <a:t>Financial state unchanged</a:t>
            </a:r>
          </a:p>
        </p:txBody>
      </p:sp>
      <p:sp>
        <p:nvSpPr>
          <p:cNvPr id="8" name="TextBox 7"/>
          <p:cNvSpPr txBox="1"/>
          <p:nvPr/>
        </p:nvSpPr>
        <p:spPr>
          <a:xfrm>
            <a:off x="594360" y="5715000"/>
            <a:ext cx="13075920" cy="553212"/>
          </a:xfrm>
          <a:prstGeom prst="rect">
            <a:avLst/>
          </a:prstGeom>
          <a:noFill/>
        </p:spPr>
        <p:txBody>
          <a:bodyPr wrap="none" lIns="0" rIns="0" tIns="0" bIns="0">
            <a:spAutoFit/>
          </a:bodyPr>
          <a:lstStyle/>
          <a:p>
            <a:pPr>
              <a:defRPr sz="2160" b="0">
                <a:solidFill>
                  <a:srgbClr val="172D42"/>
                </a:solidFill>
                <a:latin typeface="Arial"/>
              </a:defRPr>
            </a:pPr>
            <a:r>
              <a:t>The 20-request residence pilot stays frozen and unresolved.</a:t>
            </a:r>
          </a:p>
        </p:txBody>
      </p:sp>
      <p:sp>
        <p:nvSpPr>
          <p:cNvPr id="9" name="TextBox 8"/>
          <p:cNvSpPr txBox="1"/>
          <p:nvPr/>
        </p:nvSpPr>
        <p:spPr>
          <a:xfrm>
            <a:off x="594360" y="6446520"/>
            <a:ext cx="13075920" cy="651967"/>
          </a:xfrm>
          <a:prstGeom prst="rect">
            <a:avLst/>
          </a:prstGeom>
          <a:noFill/>
        </p:spPr>
        <p:txBody>
          <a:bodyPr wrap="none" lIns="0" rIns="0" tIns="0" bIns="0">
            <a:spAutoFit/>
          </a:bodyPr>
          <a:lstStyle/>
          <a:p>
            <a:pPr>
              <a:defRPr sz="2736" b="1">
                <a:solidFill>
                  <a:srgbClr val="172D42"/>
                </a:solidFill>
                <a:latin typeface="Arial"/>
              </a:defRPr>
            </a:pPr>
            <a:r>
              <a:t>Facts, official evidence and arithmetic stay inspectable.</a:t>
            </a:r>
          </a:p>
        </p:txBody>
      </p:sp>
      <p:sp>
        <p:nvSpPr>
          <p:cNvPr id="10" name="TextBox 9"/>
          <p:cNvSpPr txBox="1"/>
          <p:nvPr/>
        </p:nvSpPr>
        <p:spPr>
          <a:xfrm>
            <a:off x="594360" y="7726679"/>
            <a:ext cx="13350240" cy="429768"/>
          </a:xfrm>
          <a:prstGeom prst="rect">
            <a:avLst/>
          </a:prstGeom>
          <a:noFill/>
        </p:spPr>
        <p:txBody>
          <a:bodyPr wrap="none" lIns="0" rIns="0" tIns="0" bIns="0">
            <a:spAutoFit/>
          </a:bodyPr>
          <a:lstStyle/>
          <a:p>
            <a:pPr>
              <a:defRPr sz="1439" b="0">
                <a:solidFill>
                  <a:srgbClr val="172D42"/>
                </a:solidFill>
                <a:latin typeface="Arial"/>
              </a:defRPr>
            </a:pPr>
            <a:r>
              <a:t>6/6 BiG-M Lite Synthetic product demonstration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